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Importancia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ADCF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ADCF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ADCF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ADCFC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Dif. puntos de ranking</c:v>
                  </c:pt>
                  <c:pt idx="1">
                    <c:v>BP enfrentados (B)</c:v>
                  </c:pt>
                  <c:pt idx="2">
                    <c:v>BP enfrentados (A)</c:v>
                  </c:pt>
                  <c:pt idx="3">
                    <c:v>1er saque ganado (B)</c:v>
                  </c:pt>
                  <c:pt idx="4">
                    <c:v>Puntos de saque (A)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56</c:v>
                </c:pt>
                <c:pt idx="1">
                  <c:v>21.8</c:v>
                </c:pt>
                <c:pt idx="2">
                  <c:v>21.5</c:v>
                </c:pt>
                <c:pt idx="3">
                  <c:v>19.7</c:v>
                </c:pt>
                <c:pt idx="4">
                  <c:v>19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47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de victorias de A</c:v>
                </c:pt>
              </c:strCache>
            </c:strRef>
          </c:tx>
          <c:spPr>
            <a:solidFill>
              <a:srgbClr val="1E2761"/>
            </a:solidFill>
            <a:ln w="38100" cap="flat">
              <a:solidFill>
                <a:srgbClr val="1E276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-200</c:v>
                  </c:pt>
                  <c:pt idx="1">
                    <c:v>-150</c:v>
                  </c:pt>
                  <c:pt idx="2">
                    <c:v>-100</c:v>
                  </c:pt>
                  <c:pt idx="3">
                    <c:v>-50</c:v>
                  </c:pt>
                  <c:pt idx="4">
                    <c:v>0</c:v>
                  </c:pt>
                  <c:pt idx="5">
                    <c:v>50</c:v>
                  </c:pt>
                  <c:pt idx="6">
                    <c:v>100</c:v>
                  </c:pt>
                  <c:pt idx="7">
                    <c:v>150</c:v>
                  </c:pt>
                  <c:pt idx="8">
                    <c:v>200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10</c:v>
                </c:pt>
                <c:pt idx="1">
                  <c:v>15</c:v>
                </c:pt>
                <c:pt idx="2">
                  <c:v>24</c:v>
                </c:pt>
                <c:pt idx="3">
                  <c:v>37</c:v>
                </c:pt>
                <c:pt idx="4">
                  <c:v>50</c:v>
                </c:pt>
                <c:pt idx="5">
                  <c:v>63</c:v>
                </c:pt>
                <c:pt idx="6">
                  <c:v>75</c:v>
                </c:pt>
                <c:pt idx="7">
                  <c:v>83</c:v>
                </c:pt>
                <c:pt idx="8">
                  <c:v>89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B6472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5B6472"/>
                    </a:solidFill>
                    <a:latin typeface="Arial"/>
                  </a:rPr>
                  <a:t>Diferencia de ranking (A − B)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ADCFC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B647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EF3FC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B647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5B647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Regresión Log.</c:v>
                  </c:pt>
                  <c:pt idx="1">
                    <c:v>SVM</c:v>
                  </c:pt>
                  <c:pt idx="2">
                    <c:v>XGBoost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64.99</c:v>
                </c:pt>
                <c:pt idx="1">
                  <c:v>64.9</c:v>
                </c:pt>
                <c:pt idx="2">
                  <c:v>66.09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ROC-AUC (×100)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5B647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Regresión Log.</c:v>
                  </c:pt>
                  <c:pt idx="1">
                    <c:v>SVM</c:v>
                  </c:pt>
                  <c:pt idx="2">
                    <c:v>XGBoost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70.22</c:v>
                </c:pt>
                <c:pt idx="1">
                  <c:v>70.38</c:v>
                </c:pt>
                <c:pt idx="2">
                  <c:v>71.8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50" u="none">
                  <a:solidFill>
                    <a:srgbClr val="5B647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ADCFC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761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B6472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1463040"/>
            <a:ext cx="4754880" cy="4754880"/>
          </a:xfrm>
          <a:prstGeom prst="ellipse">
            <a:avLst/>
          </a:prstGeom>
          <a:solidFill>
            <a:srgbClr val="141A44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3657600"/>
            <a:ext cx="3108960" cy="3108960"/>
          </a:xfrm>
          <a:prstGeom prst="ellipse">
            <a:avLst/>
          </a:prstGeom>
          <a:solidFill>
            <a:srgbClr val="D5E62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822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DE BUENOS AIRES · FACULTAD DE INGENIERÍA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37360"/>
            <a:ext cx="7498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Predicción de</a:t>
            </a:r>
            <a:endParaRPr lang="en-US" sz="54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Partidos ATP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16052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de aprendizaje automático para tenis profesional masculino (1990–2024)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9893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Ciencia de Datos para la Toma de Decisiones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PRINCIPAL DE INVESTIGACIÓN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66751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¿Es posible predecir con precisión el ganador de un partido de ATP antes de que comience?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66344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desafío consiste en construir un modelo con alta capacidad predictiva usando únicamente métricas conocidas antes del encuentro, evitando la fuga de información (data leakage).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0" y="1965960"/>
            <a:ext cx="3017520" cy="3017520"/>
          </a:xfrm>
          <a:prstGeom prst="ellipse">
            <a:avLst/>
          </a:prstGeom>
          <a:solidFill>
            <a:srgbClr val="EEF3FC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0" y="233172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</a:t>
            </a:r>
            <a:endParaRPr lang="en-US" sz="640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37033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años de historia</a:t>
            </a: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circuito ATP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PROPÓSITO Y AUDIENCIA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qué existe este proyecto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120640" cy="3931920"/>
          </a:xfrm>
          <a:prstGeom prst="roundRect">
            <a:avLst>
              <a:gd name="adj" fmla="val 2791"/>
            </a:avLst>
          </a:prstGeom>
          <a:solidFill>
            <a:srgbClr val="EEF3FC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242316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4231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5E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338328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Propósito del proyecto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3931920"/>
            <a:ext cx="4206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Desarrollar, evaluar y comparar algoritmos de aprendizaje supervisado (Regresión Logística, SVM y XGBoost) para predecir la probabilidad de victoria entre dos tenistas profesionales, identificando los factores clave del rendimiento histórico.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72200" y="1965960"/>
            <a:ext cx="5120640" cy="3931920"/>
          </a:xfrm>
          <a:prstGeom prst="roundRect">
            <a:avLst>
              <a:gd name="adj" fmla="val 2791"/>
            </a:avLst>
          </a:prstGeom>
          <a:solidFill>
            <a:srgbClr val="EEF3FC"/>
          </a:solidFill>
          <a:ln/>
        </p:spPr>
      </p:sp>
      <p:sp>
        <p:nvSpPr>
          <p:cNvPr id="10" name="Shape 8"/>
          <p:cNvSpPr/>
          <p:nvPr/>
        </p:nvSpPr>
        <p:spPr>
          <a:xfrm>
            <a:off x="6629400" y="242316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629400" y="24231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5E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◇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6629400" y="338328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Audiencia objetivo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629400" y="3931920"/>
            <a:ext cx="4206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Especialistas en analítica deportiva y profesionales de Data Science interesados en la rigurosidad metodológica, la prevención de fuga de información y la aplicación práctica en la toma de decisiones estratégicas.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CLAVE · DATASET HISTÓRICO ATP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5943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112.056</a:t>
            </a:r>
            <a:endParaRPr lang="en-US" sz="9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0632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partidos oficiales registrados (1990–2024)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02336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Abarca todas las superficies y niveles del circuito masculino: ATP 250, ATP 500, Masters 1000, Grand Slam y Copa Davis.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223760" y="1371600"/>
            <a:ext cx="4434840" cy="1417320"/>
          </a:xfrm>
          <a:prstGeom prst="roundRect">
            <a:avLst>
              <a:gd name="adj" fmla="val 6452"/>
            </a:avLst>
          </a:prstGeom>
          <a:solidFill>
            <a:srgbClr val="EEF3F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543800" y="1536192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Cuantitativas continuas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543800" y="1938528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Altura del jugador, duración acumulada de partidos previos.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223760" y="2971800"/>
            <a:ext cx="4434840" cy="1417320"/>
          </a:xfrm>
          <a:prstGeom prst="roundRect">
            <a:avLst>
              <a:gd name="adj" fmla="val 6452"/>
            </a:avLst>
          </a:prstGeom>
          <a:solidFill>
            <a:srgbClr val="EEF3F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543800" y="3136392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Cuantitativas discretas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543800" y="3538728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Puntos y posición en el ranking ATP, aces, puntos de quiebre.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223760" y="4572000"/>
            <a:ext cx="4434840" cy="1417320"/>
          </a:xfrm>
          <a:prstGeom prst="roundRect">
            <a:avLst>
              <a:gd name="adj" fmla="val 6452"/>
            </a:avLst>
          </a:prstGeom>
          <a:solidFill>
            <a:srgbClr val="EEF3F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543800" y="4736592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Cualitativas nominales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543800" y="5138928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Superficie (dura, arcilla, césped, sintética), país, mano hábil.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DESAFÍO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Evitar la fuga de información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dataset original registraba el resultado ya conocido de cada partido (ganador / perdedor). Usar esa estructura tal cual introduciría información del futuro dentro del modelo.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697480"/>
            <a:ext cx="5120640" cy="3246120"/>
          </a:xfrm>
          <a:prstGeom prst="roundRect">
            <a:avLst>
              <a:gd name="adj" fmla="val 3380"/>
            </a:avLst>
          </a:prstGeom>
          <a:solidFill>
            <a:srgbClr val="FBEAEA"/>
          </a:solidFill>
          <a:ln/>
        </p:spPr>
      </p:sp>
      <p:sp>
        <p:nvSpPr>
          <p:cNvPr id="6" name="Shape 4"/>
          <p:cNvSpPr/>
          <p:nvPr/>
        </p:nvSpPr>
        <p:spPr>
          <a:xfrm>
            <a:off x="960120" y="3063240"/>
            <a:ext cx="594360" cy="59436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60120" y="30632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38404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Estructura original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4297680"/>
            <a:ext cx="4297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Columnas fijas Winner / Loser: la posición de cada jugador ya delata quién ganó. Incluye estadísticas del propio partido (aces, minutos) que solo existen después de jugarlo.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72200" y="2697480"/>
            <a:ext cx="5120640" cy="3246120"/>
          </a:xfrm>
          <a:prstGeom prst="roundRect">
            <a:avLst>
              <a:gd name="adj" fmla="val 3380"/>
            </a:avLst>
          </a:prstGeom>
          <a:solidFill>
            <a:srgbClr val="EEF3FC"/>
          </a:solidFill>
          <a:ln/>
        </p:spPr>
      </p:sp>
      <p:sp>
        <p:nvSpPr>
          <p:cNvPr id="11" name="Shape 9"/>
          <p:cNvSpPr/>
          <p:nvPr/>
        </p:nvSpPr>
        <p:spPr>
          <a:xfrm>
            <a:off x="6583680" y="306324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83680" y="30632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5E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38404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Estructura corregida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0" y="4297680"/>
            <a:ext cx="4297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Posiciones neutras player_A / player_B, independientes del resultado, con la variable objetivo binaria gano_A construida a partir de datos solo disponibles antes del partido.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Tratamiento de datos pre-partido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14400" y="2331720"/>
            <a:ext cx="9738360" cy="27432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96596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965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5E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92608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Redefinición neutral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383280"/>
            <a:ext cx="2514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reorganiza la base en posiciones fijas player_A vs player_B, con target binario gano_A.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00400" y="196596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200400" y="1965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5E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3200400" y="292608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Eliminación in-match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3200400" y="3383280"/>
            <a:ext cx="2514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descartan duración, aces y estadísticas del partido en curso: dependen del resultado futuro.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852160" y="196596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852160" y="1965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5E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5852160" y="292608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Rolling stats (10)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5852160" y="3383280"/>
            <a:ext cx="2514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calculan promedios móviles de los últimos 10 partidos para capturar el estado de forma reciente.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503920" y="1965960"/>
            <a:ext cx="731520" cy="731520"/>
          </a:xfrm>
          <a:prstGeom prst="ellipse">
            <a:avLst/>
          </a:prstGeom>
          <a:solidFill>
            <a:srgbClr val="D5E62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503920" y="1965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8503920" y="292608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Imputación LOCF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8503920" y="3383280"/>
            <a:ext cx="2514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rankings faltantes se completan con el último valor observado, dada su variación gradual.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CLAVE · IMPORTANCIA DE VARIABLES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ranking manda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4572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diferencia de puntos de ranking lidera ampliamente la capacidad explicativa del modelo, seguida por la presión reciente en el servicio.</a:t>
            </a:r>
            <a:endParaRPr lang="en-US" sz="13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394960" y="1417320"/>
          <a:ext cx="62636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CLAVE · COMPORTAMIENTO DEL MODELO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mayor brecha, mayor certeza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91640"/>
          <a:ext cx="69494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360920" y="1828800"/>
            <a:ext cx="4297680" cy="3291840"/>
          </a:xfrm>
          <a:prstGeom prst="roundRect">
            <a:avLst>
              <a:gd name="adj" fmla="val 3333"/>
            </a:avLst>
          </a:prstGeom>
          <a:solidFill>
            <a:srgbClr val="1E276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360920" y="224028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D5E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+80%</a:t>
            </a:r>
            <a:endParaRPr lang="en-US" sz="4800" dirty="0"/>
          </a:p>
        </p:txBody>
      </p:sp>
      <p:sp>
        <p:nvSpPr>
          <p:cNvPr id="7" name="Text 4"/>
          <p:cNvSpPr txBox="1"/>
          <p:nvPr/>
        </p:nvSpPr>
        <p:spPr>
          <a:xfrm>
            <a:off x="7818120" y="338328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probabilidad de victoria cuando la brecha de ranking supera los 150 puntos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 · METODOLOGÍA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enfoques, un mismo objetivo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EEF3FC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33172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3317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5E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15468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Regresión Logística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794760"/>
            <a:ext cx="2697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lineal probabilístico con las 10 variables top seleccionadas vía validación cruzada. Alta interpretabilidad mediante odds ratios.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196596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EEF3FC"/>
          </a:solidFill>
          <a:ln/>
        </p:spPr>
      </p:sp>
      <p:sp>
        <p:nvSpPr>
          <p:cNvPr id="10" name="Shape 8"/>
          <p:cNvSpPr/>
          <p:nvPr/>
        </p:nvSpPr>
        <p:spPr>
          <a:xfrm>
            <a:off x="4663440" y="233172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63440" y="23317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5E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315468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SVM (kernel RBF)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3794760"/>
            <a:ext cx="2697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Proyecta los datos a un espacio de mayor dimensión para capturar fronteras de decisión e interacciones no lineales entre estadísticas.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46720" y="196596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1E2761"/>
          </a:solidFill>
          <a:ln/>
        </p:spPr>
      </p:sp>
      <p:sp>
        <p:nvSpPr>
          <p:cNvPr id="15" name="Shape 13"/>
          <p:cNvSpPr/>
          <p:nvPr/>
        </p:nvSpPr>
        <p:spPr>
          <a:xfrm>
            <a:off x="8412480" y="2331720"/>
            <a:ext cx="594360" cy="594360"/>
          </a:xfrm>
          <a:prstGeom prst="ellipse">
            <a:avLst/>
          </a:prstGeom>
          <a:solidFill>
            <a:srgbClr val="D5E62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12480" y="23317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412480" y="315468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XGBoost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412480" y="3794760"/>
            <a:ext cx="2697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Ensamble de árboles entrenados secuencialmente. Maneja relaciones no lineales y valores faltantes de forma nativa, con alta precisión.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CLAVE · RENDIMIENTO EN TEST SET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XGBoost lidera en todas las métricas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91640"/>
          <a:ext cx="67665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001000" y="1691640"/>
            <a:ext cx="3657600" cy="4206240"/>
          </a:xfrm>
          <a:prstGeom prst="roundRect">
            <a:avLst>
              <a:gd name="adj" fmla="val 3000"/>
            </a:avLst>
          </a:prstGeom>
          <a:solidFill>
            <a:srgbClr val="1E276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001000" y="201168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5E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66.1%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8001000" y="2834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· XGBoost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8001000" y="352044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0.718</a:t>
            </a:r>
            <a:endParaRPr lang="en-US" sz="3200" dirty="0"/>
          </a:p>
        </p:txBody>
      </p:sp>
      <p:sp>
        <p:nvSpPr>
          <p:cNvPr id="9" name="Text 6"/>
          <p:cNvSpPr txBox="1"/>
          <p:nvPr/>
        </p:nvSpPr>
        <p:spPr>
          <a:xfrm>
            <a:off x="8001000" y="4160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· XGBoost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8183880" y="48920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Evaluado sobre 19.304 partidos independientes (20% del set de test).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· LECTURA TÁCTICA DE RESULTADOS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le dice el modelo a un entrenador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0149840" cy="1261872"/>
          </a:xfrm>
          <a:prstGeom prst="roundRect">
            <a:avLst>
              <a:gd name="adj" fmla="val 7246"/>
            </a:avLst>
          </a:prstGeom>
          <a:solidFill>
            <a:srgbClr val="EEF3FC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203704"/>
            <a:ext cx="1417320" cy="594360"/>
          </a:xfrm>
          <a:prstGeom prst="roundRect">
            <a:avLst>
              <a:gd name="adj" fmla="val 12308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203704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5E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 0.86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2514600" y="203911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Puntos de quiebre enfrentados por el rival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2514600" y="24231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punto de quiebre adicional que suele enfrentar el rival reduce sus chances de ganar y favorece directamente al jugador A.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3319272"/>
            <a:ext cx="10149840" cy="1261872"/>
          </a:xfrm>
          <a:prstGeom prst="roundRect">
            <a:avLst>
              <a:gd name="adj" fmla="val 7246"/>
            </a:avLst>
          </a:prstGeom>
          <a:solidFill>
            <a:srgbClr val="EEF3FC"/>
          </a:solidFill>
          <a:ln/>
        </p:spPr>
      </p:sp>
      <p:sp>
        <p:nvSpPr>
          <p:cNvPr id="10" name="Shape 8"/>
          <p:cNvSpPr/>
          <p:nvPr/>
        </p:nvSpPr>
        <p:spPr>
          <a:xfrm>
            <a:off x="868680" y="3648456"/>
            <a:ext cx="1417320" cy="594360"/>
          </a:xfrm>
          <a:prstGeom prst="roundRect">
            <a:avLst>
              <a:gd name="adj" fmla="val 12308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3648456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5E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 0.89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514600" y="3483864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Puntos de quiebre salvados bajo presión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2514600" y="3867912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Salvar una menor proporción de puntos de quiebre en partidos recientes reduce las chances de A: pesa el factor mental en momentos críticos.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764024"/>
            <a:ext cx="10149840" cy="1261872"/>
          </a:xfrm>
          <a:prstGeom prst="roundRect">
            <a:avLst>
              <a:gd name="adj" fmla="val 7246"/>
            </a:avLst>
          </a:prstGeom>
          <a:solidFill>
            <a:srgbClr val="EEF3FC"/>
          </a:solidFill>
          <a:ln/>
        </p:spPr>
      </p:sp>
      <p:sp>
        <p:nvSpPr>
          <p:cNvPr id="15" name="Shape 13"/>
          <p:cNvSpPr/>
          <p:nvPr/>
        </p:nvSpPr>
        <p:spPr>
          <a:xfrm>
            <a:off x="868680" y="5093208"/>
            <a:ext cx="1417320" cy="594360"/>
          </a:xfrm>
          <a:prstGeom prst="roundRect">
            <a:avLst>
              <a:gd name="adj" fmla="val 12308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5093208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5E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 1.13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2514600" y="4928616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Cruce entre jugadores del Top 10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2514600" y="5312664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el jugador A pertenece al Top 10 y enfrenta a otro del Top 10, sus chances relativas de victoria suben un 13%.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206240"/>
            <a:ext cx="5029200" cy="5029200"/>
          </a:xfrm>
          <a:prstGeom prst="ellipse">
            <a:avLst/>
          </a:prstGeom>
          <a:solidFill>
            <a:srgbClr val="141A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822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5E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FRONTERA DE PREDICCIÓN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D5E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1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31720"/>
            <a:ext cx="8778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7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tenis profesional posee una estocasticidad intrínseca —lesiones, clima, momentos anímicos— que establece un techo predictivo cercano al 68%–70% antes del partido.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0749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Conclusión del proyecto, Ciencia de Datos para la Toma de Decisiones (FIUBA)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-1463040"/>
            <a:ext cx="3657600" cy="3657600"/>
          </a:xfrm>
          <a:prstGeom prst="ellipse">
            <a:avLst/>
          </a:prstGeom>
          <a:solidFill>
            <a:srgbClr val="141A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685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5E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 Y PRÓXIMOS PASOS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5156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un modelo a una herramienta de decisión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4884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5E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Conclusiones principales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292608" cy="292608"/>
          </a:xfrm>
          <a:prstGeom prst="ellipse">
            <a:avLst/>
          </a:prstGeom>
          <a:solidFill>
            <a:srgbClr val="D5E62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26517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25968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viable predecir partidos de tenis con hasta 66,1% de accuracy y 0,718 de AUC usando solo datos previos al partido.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703320"/>
            <a:ext cx="292608" cy="292608"/>
          </a:xfrm>
          <a:prstGeom prst="ellipse">
            <a:avLst/>
          </a:prstGeom>
          <a:solidFill>
            <a:srgbClr val="D5E62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3703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364845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diferencia de ranking y la gestión de puntos de quiebre recientes son los verdaderos motores de la predicción.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754880"/>
            <a:ext cx="292608" cy="292608"/>
          </a:xfrm>
          <a:prstGeom prst="ellipse">
            <a:avLst/>
          </a:prstGeom>
          <a:solidFill>
            <a:srgbClr val="D5E62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754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470001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Eliminar la fuga de información garantiza que el modelo sea aplicable en escenarios reales de decisión.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214884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5E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Líneas de trabajo futuras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172200" y="2651760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172200" y="26517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629400" y="25968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Incorporar datos de fatiga en tiempo real: viajes, diferencia horaria y superficie específica.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72200" y="3703320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172200" y="3703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629400" y="364845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de regresión temporal que ponderen el rendimiento según la recencia del torneo.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172200" y="4754880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172200" y="4754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629400" y="470001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Modelado jerárquico Bayesiano para partidos bajo condiciones climáticas extremas.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2026-09-17T00:24:36Z</dcterms:created>
  <dcterms:modified xsi:type="dcterms:W3CDTF">2026-09-17T00:24:36Z</dcterms:modified>
</cp:coreProperties>
</file>